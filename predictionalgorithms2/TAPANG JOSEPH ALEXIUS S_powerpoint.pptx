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Lst>
  <p:sldIdLst>
    <p:sldId id="256" r:id="rId2"/>
    <p:sldId id="259" r:id="rId3"/>
    <p:sldId id="260" r:id="rId4"/>
    <p:sldId id="262" r:id="rId5"/>
    <p:sldId id="263" r:id="rId6"/>
    <p:sldId id="266" r:id="rId7"/>
    <p:sldId id="267"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50" autoAdjust="0"/>
    <p:restoredTop sz="94660"/>
  </p:normalViewPr>
  <p:slideViewPr>
    <p:cSldViewPr snapToGrid="0">
      <p:cViewPr varScale="1">
        <p:scale>
          <a:sx n="137" d="100"/>
          <a:sy n="137" d="100"/>
        </p:scale>
        <p:origin x="216"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4/12/26</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56720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4/12/26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82513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4/12/26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28614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4/12/26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195260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4/12/26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52631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4/12/26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6069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4/12/26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62979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4/12/26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74208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4/12/26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000285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4/12/26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808600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4/12/26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342753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4/12/26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4261145137"/>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1" r:id="rId6"/>
    <p:sldLayoutId id="2147483777" r:id="rId7"/>
    <p:sldLayoutId id="2147483778" r:id="rId8"/>
    <p:sldLayoutId id="2147483779" r:id="rId9"/>
    <p:sldLayoutId id="2147483780" r:id="rId10"/>
    <p:sldLayoutId id="2147483782"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4" name="Background Fill">
            <a:extLst>
              <a:ext uri="{FF2B5EF4-FFF2-40B4-BE49-F238E27FC236}">
                <a16:creationId xmlns:a16="http://schemas.microsoft.com/office/drawing/2014/main" id="{68CA250C-CF5A-4736-9249-D6111F7C5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BBB887A-DB02-4431-8FDF-F517505C9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2E1192-14C2-0098-16F2-B1EE24DF9B64}"/>
              </a:ext>
            </a:extLst>
          </p:cNvPr>
          <p:cNvSpPr>
            <a:spLocks noGrp="1"/>
          </p:cNvSpPr>
          <p:nvPr>
            <p:ph type="ctrTitle"/>
          </p:nvPr>
        </p:nvSpPr>
        <p:spPr>
          <a:xfrm>
            <a:off x="4494361" y="1584327"/>
            <a:ext cx="7377811" cy="2519714"/>
          </a:xfrm>
        </p:spPr>
        <p:txBody>
          <a:bodyPr>
            <a:noAutofit/>
          </a:bodyPr>
          <a:lstStyle/>
          <a:p>
            <a:r>
              <a:rPr lang="en-US" sz="3600" dirty="0"/>
              <a:t>Machine Learning Level 2: Algorithm Optimization and Deployment</a:t>
            </a:r>
            <a:br>
              <a:rPr lang="en-US" sz="3600" dirty="0"/>
            </a:br>
            <a:endParaRPr lang="en-CA" sz="3600" dirty="0"/>
          </a:p>
        </p:txBody>
      </p:sp>
      <p:sp>
        <p:nvSpPr>
          <p:cNvPr id="3" name="Subtitle 2">
            <a:extLst>
              <a:ext uri="{FF2B5EF4-FFF2-40B4-BE49-F238E27FC236}">
                <a16:creationId xmlns:a16="http://schemas.microsoft.com/office/drawing/2014/main" id="{46010709-4E50-5BB2-80B6-041CEB4BD8AD}"/>
              </a:ext>
            </a:extLst>
          </p:cNvPr>
          <p:cNvSpPr>
            <a:spLocks noGrp="1"/>
          </p:cNvSpPr>
          <p:nvPr>
            <p:ph type="subTitle" idx="1"/>
          </p:nvPr>
        </p:nvSpPr>
        <p:spPr>
          <a:xfrm>
            <a:off x="5018718" y="4372719"/>
            <a:ext cx="6294846" cy="2519713"/>
          </a:xfrm>
        </p:spPr>
        <p:txBody>
          <a:bodyPr>
            <a:normAutofit/>
          </a:bodyPr>
          <a:lstStyle/>
          <a:p>
            <a:r>
              <a:rPr lang="en-US" dirty="0"/>
              <a:t>Joseph Alexius </a:t>
            </a:r>
            <a:r>
              <a:rPr lang="en-US" dirty="0" err="1"/>
              <a:t>Tapang</a:t>
            </a:r>
            <a:endParaRPr lang="en-US" dirty="0"/>
          </a:p>
          <a:p>
            <a:r>
              <a:rPr lang="en-US" dirty="0"/>
              <a:t>Business Intelligence and Systems Infrastructure</a:t>
            </a:r>
          </a:p>
          <a:p>
            <a:r>
              <a:rPr lang="en-US" dirty="0"/>
              <a:t>041146039</a:t>
            </a:r>
            <a:endParaRPr lang="en-CA" dirty="0"/>
          </a:p>
        </p:txBody>
      </p:sp>
      <p:pic>
        <p:nvPicPr>
          <p:cNvPr id="18" name="Picture 17" descr="Colored pencils inside a pencil holder which is on top of a wood table">
            <a:extLst>
              <a:ext uri="{FF2B5EF4-FFF2-40B4-BE49-F238E27FC236}">
                <a16:creationId xmlns:a16="http://schemas.microsoft.com/office/drawing/2014/main" id="{61AD307F-19C2-CEB6-B5A6-E96F4141C20A}"/>
              </a:ext>
            </a:extLst>
          </p:cNvPr>
          <p:cNvPicPr>
            <a:picLocks noChangeAspect="1"/>
          </p:cNvPicPr>
          <p:nvPr/>
        </p:nvPicPr>
        <p:blipFill rotWithShape="1">
          <a:blip r:embed="rId4"/>
          <a:srcRect l="44397" r="19" b="-1"/>
          <a:stretch/>
        </p:blipFill>
        <p:spPr>
          <a:xfrm>
            <a:off x="20" y="10"/>
            <a:ext cx="4615112" cy="6857990"/>
          </a:xfrm>
          <a:custGeom>
            <a:avLst/>
            <a:gdLst/>
            <a:ahLst/>
            <a:cxnLst/>
            <a:rect l="l" t="t" r="r" b="b"/>
            <a:pathLst>
              <a:path w="5710652" h="6858000">
                <a:moveTo>
                  <a:pt x="4831301" y="0"/>
                </a:moveTo>
                <a:lnTo>
                  <a:pt x="5696109" y="0"/>
                </a:lnTo>
                <a:lnTo>
                  <a:pt x="5706418" y="42969"/>
                </a:lnTo>
                <a:cubicBezTo>
                  <a:pt x="5714414" y="100391"/>
                  <a:pt x="5711283" y="160329"/>
                  <a:pt x="5695333" y="219852"/>
                </a:cubicBezTo>
                <a:cubicBezTo>
                  <a:pt x="5631536" y="457945"/>
                  <a:pt x="5386806" y="599240"/>
                  <a:pt x="5148712" y="535443"/>
                </a:cubicBezTo>
                <a:cubicBezTo>
                  <a:pt x="4940381" y="479621"/>
                  <a:pt x="4806160" y="285271"/>
                  <a:pt x="4818599" y="78052"/>
                </a:cubicBezTo>
                <a:close/>
                <a:moveTo>
                  <a:pt x="0" y="0"/>
                </a:moveTo>
                <a:lnTo>
                  <a:pt x="545808" y="0"/>
                </a:lnTo>
                <a:lnTo>
                  <a:pt x="4212872" y="0"/>
                </a:lnTo>
                <a:lnTo>
                  <a:pt x="4204748" y="184996"/>
                </a:lnTo>
                <a:cubicBezTo>
                  <a:pt x="4203390" y="263520"/>
                  <a:pt x="4204263" y="341910"/>
                  <a:pt x="4207775" y="419995"/>
                </a:cubicBezTo>
                <a:cubicBezTo>
                  <a:pt x="4220964" y="709488"/>
                  <a:pt x="4449625" y="891535"/>
                  <a:pt x="4655737" y="1068099"/>
                </a:cubicBezTo>
                <a:cubicBezTo>
                  <a:pt x="5169527" y="1508061"/>
                  <a:pt x="5344373" y="2032158"/>
                  <a:pt x="5103604" y="2589405"/>
                </a:cubicBezTo>
                <a:cubicBezTo>
                  <a:pt x="5010230" y="2805523"/>
                  <a:pt x="4828675" y="2993264"/>
                  <a:pt x="4657611" y="3164269"/>
                </a:cubicBezTo>
                <a:cubicBezTo>
                  <a:pt x="4198817" y="3622744"/>
                  <a:pt x="4217616" y="4154456"/>
                  <a:pt x="4499219" y="4641255"/>
                </a:cubicBezTo>
                <a:cubicBezTo>
                  <a:pt x="4699839" y="4986832"/>
                  <a:pt x="4940395" y="5311556"/>
                  <a:pt x="5110950" y="5670858"/>
                </a:cubicBezTo>
                <a:cubicBezTo>
                  <a:pt x="5277001" y="6019042"/>
                  <a:pt x="5375520" y="6366409"/>
                  <a:pt x="5396522" y="6707670"/>
                </a:cubicBezTo>
                <a:lnTo>
                  <a:pt x="5398895" y="6858000"/>
                </a:lnTo>
                <a:lnTo>
                  <a:pt x="0" y="6858000"/>
                </a:lnTo>
                <a:close/>
              </a:path>
            </a:pathLst>
          </a:custGeom>
        </p:spPr>
      </p:pic>
      <p:pic>
        <p:nvPicPr>
          <p:cNvPr id="9" name="Audio 8">
            <a:extLst>
              <a:ext uri="{FF2B5EF4-FFF2-40B4-BE49-F238E27FC236}">
                <a16:creationId xmlns:a16="http://schemas.microsoft.com/office/drawing/2014/main" id="{F82B2AE6-9719-D9D9-D770-991E1BAF44E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770954761"/>
      </p:ext>
    </p:extLst>
  </p:cSld>
  <p:clrMapOvr>
    <a:masterClrMapping/>
  </p:clrMapOvr>
  <mc:AlternateContent xmlns:mc="http://schemas.openxmlformats.org/markup-compatibility/2006">
    <mc:Choice xmlns:p14="http://schemas.microsoft.com/office/powerpoint/2010/main" Requires="p14">
      <p:transition spd="slow" p14:dur="2000" advTm="12094"/>
    </mc:Choice>
    <mc:Fallback>
      <p:transition spd="slow" advTm="120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1F84-8F22-661E-368E-9E146FE90788}"/>
              </a:ext>
            </a:extLst>
          </p:cNvPr>
          <p:cNvSpPr>
            <a:spLocks noGrp="1"/>
          </p:cNvSpPr>
          <p:nvPr>
            <p:ph type="title"/>
          </p:nvPr>
        </p:nvSpPr>
        <p:spPr/>
        <p:txBody>
          <a:bodyPr/>
          <a:lstStyle/>
          <a:p>
            <a:r>
              <a:rPr lang="en-CA" dirty="0"/>
              <a:t>1. Introduction</a:t>
            </a:r>
          </a:p>
        </p:txBody>
      </p:sp>
      <p:sp>
        <p:nvSpPr>
          <p:cNvPr id="3" name="Content Placeholder 2">
            <a:extLst>
              <a:ext uri="{FF2B5EF4-FFF2-40B4-BE49-F238E27FC236}">
                <a16:creationId xmlns:a16="http://schemas.microsoft.com/office/drawing/2014/main" id="{9632EF47-0E52-95F7-A30B-607530B6D6A6}"/>
              </a:ext>
            </a:extLst>
          </p:cNvPr>
          <p:cNvSpPr>
            <a:spLocks noGrp="1"/>
          </p:cNvSpPr>
          <p:nvPr>
            <p:ph idx="1"/>
          </p:nvPr>
        </p:nvSpPr>
        <p:spPr/>
        <p:txBody>
          <a:bodyPr>
            <a:normAutofit fontScale="92500"/>
          </a:bodyPr>
          <a:lstStyle/>
          <a:p>
            <a:r>
              <a:rPr lang="en-US" b="1" dirty="0"/>
              <a:t>Overview</a:t>
            </a:r>
          </a:p>
          <a:p>
            <a:r>
              <a:rPr lang="en-US" dirty="0"/>
              <a:t>	This project simulates the application of data analytics implementation lifecycle. All machine learning algorithms done through previous laboratory exercises in notebooks were optimized, then implemented online based from coding and methodology best practices.</a:t>
            </a:r>
            <a:endParaRPr lang="en-US" b="1" dirty="0"/>
          </a:p>
          <a:p>
            <a:r>
              <a:rPr lang="en-US" b="1" dirty="0"/>
              <a:t>Problem statement &amp; objectives</a:t>
            </a:r>
          </a:p>
          <a:p>
            <a:r>
              <a:rPr lang="en-US" dirty="0"/>
              <a:t> 	In a real world setting, data analytics are done through projects. Analysis require properly documented findings and properly implemented codes.  Given the need, how do we properly code and deploy the application?</a:t>
            </a:r>
          </a:p>
          <a:p>
            <a:r>
              <a:rPr lang="en-US" b="1" dirty="0"/>
              <a:t>Importance</a:t>
            </a:r>
          </a:p>
          <a:p>
            <a:r>
              <a:rPr lang="en-CA" dirty="0"/>
              <a:t>	Knowledge in code optimization and deployment improves work quality and productivity.</a:t>
            </a:r>
          </a:p>
        </p:txBody>
      </p:sp>
      <p:pic>
        <p:nvPicPr>
          <p:cNvPr id="13" name="Audio 12">
            <a:extLst>
              <a:ext uri="{FF2B5EF4-FFF2-40B4-BE49-F238E27FC236}">
                <a16:creationId xmlns:a16="http://schemas.microsoft.com/office/drawing/2014/main" id="{6EB87FF5-F44F-C822-0017-0FA1EA1F024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980860394"/>
      </p:ext>
    </p:extLst>
  </p:cSld>
  <p:clrMapOvr>
    <a:masterClrMapping/>
  </p:clrMapOvr>
  <mc:AlternateContent xmlns:mc="http://schemas.openxmlformats.org/markup-compatibility/2006">
    <mc:Choice xmlns:p14="http://schemas.microsoft.com/office/powerpoint/2010/main" Requires="p14">
      <p:transition spd="slow" p14:dur="2000" advTm="84714"/>
    </mc:Choice>
    <mc:Fallback>
      <p:transition spd="slow" advTm="847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F88D-D639-3619-09DF-8DDF3C711430}"/>
              </a:ext>
            </a:extLst>
          </p:cNvPr>
          <p:cNvSpPr>
            <a:spLocks noGrp="1"/>
          </p:cNvSpPr>
          <p:nvPr>
            <p:ph type="title"/>
          </p:nvPr>
        </p:nvSpPr>
        <p:spPr/>
        <p:txBody>
          <a:bodyPr/>
          <a:lstStyle/>
          <a:p>
            <a:r>
              <a:rPr lang="en-CA" dirty="0"/>
              <a:t>2. Methodology</a:t>
            </a:r>
          </a:p>
        </p:txBody>
      </p:sp>
      <p:sp>
        <p:nvSpPr>
          <p:cNvPr id="3" name="Content Placeholder 2">
            <a:extLst>
              <a:ext uri="{FF2B5EF4-FFF2-40B4-BE49-F238E27FC236}">
                <a16:creationId xmlns:a16="http://schemas.microsoft.com/office/drawing/2014/main" id="{7CEABDF2-A49F-A4CC-8E11-302C51D527C9}"/>
              </a:ext>
            </a:extLst>
          </p:cNvPr>
          <p:cNvSpPr>
            <a:spLocks noGrp="1"/>
          </p:cNvSpPr>
          <p:nvPr>
            <p:ph idx="1"/>
          </p:nvPr>
        </p:nvSpPr>
        <p:spPr/>
        <p:txBody>
          <a:bodyPr>
            <a:normAutofit/>
          </a:bodyPr>
          <a:lstStyle/>
          <a:p>
            <a:r>
              <a:rPr lang="en-US" b="1" dirty="0"/>
              <a:t>Data collection: </a:t>
            </a:r>
            <a:r>
              <a:rPr lang="en-US" dirty="0"/>
              <a:t>Data used in this projects were provided with the lab exercises completed during level 1.</a:t>
            </a:r>
          </a:p>
          <a:p>
            <a:r>
              <a:rPr lang="en-US" b="1" dirty="0"/>
              <a:t>Tools</a:t>
            </a:r>
          </a:p>
          <a:p>
            <a:pPr marL="571500" lvl="1" indent="-342900">
              <a:buFont typeface="Arial" panose="020B0604020202020204" pitchFamily="34" charset="0"/>
              <a:buChar char="•"/>
            </a:pPr>
            <a:r>
              <a:rPr lang="en-US" dirty="0"/>
              <a:t>Programming Environment: VS Code</a:t>
            </a:r>
          </a:p>
          <a:p>
            <a:pPr marL="571500" lvl="1" indent="-342900">
              <a:buFont typeface="Arial" panose="020B0604020202020204" pitchFamily="34" charset="0"/>
              <a:buChar char="•"/>
            </a:pPr>
            <a:r>
              <a:rPr lang="en-US" dirty="0"/>
              <a:t>Programming Language: Python</a:t>
            </a:r>
          </a:p>
          <a:p>
            <a:pPr marL="800100" lvl="2" indent="-342900">
              <a:buFont typeface="Arial" panose="020B0604020202020204" pitchFamily="34" charset="0"/>
              <a:buChar char="•"/>
            </a:pPr>
            <a:r>
              <a:rPr lang="en-US" dirty="0"/>
              <a:t>Libraries: pandas | pickle | </a:t>
            </a:r>
            <a:r>
              <a:rPr lang="en-US" dirty="0" err="1"/>
              <a:t>streamlit</a:t>
            </a:r>
            <a:r>
              <a:rPr lang="en-US" dirty="0"/>
              <a:t> | logging | scikit-learn | matplotlib | seaborn</a:t>
            </a:r>
          </a:p>
          <a:p>
            <a:r>
              <a:rPr lang="en-US" b="1" dirty="0"/>
              <a:t>Techniques: </a:t>
            </a:r>
            <a:r>
              <a:rPr lang="en-US" dirty="0"/>
              <a:t> Algorithms used were Linear Regression, Random Forest, K-Means, and Neural Networks</a:t>
            </a:r>
          </a:p>
          <a:p>
            <a:r>
              <a:rPr lang="en-US" b="1" dirty="0"/>
              <a:t>Framework:</a:t>
            </a:r>
            <a:r>
              <a:rPr lang="en-US" dirty="0"/>
              <a:t> CRISP-DM (Business Understanding, Data Understanding, Data Preparation, Modeling, Evaluation, Deployment)</a:t>
            </a:r>
          </a:p>
        </p:txBody>
      </p:sp>
      <p:pic>
        <p:nvPicPr>
          <p:cNvPr id="13" name="Audio 12">
            <a:extLst>
              <a:ext uri="{FF2B5EF4-FFF2-40B4-BE49-F238E27FC236}">
                <a16:creationId xmlns:a16="http://schemas.microsoft.com/office/drawing/2014/main" id="{2311825D-F685-1162-30CB-D4CE0155616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160857649"/>
      </p:ext>
    </p:extLst>
  </p:cSld>
  <p:clrMapOvr>
    <a:masterClrMapping/>
  </p:clrMapOvr>
  <mc:AlternateContent xmlns:mc="http://schemas.openxmlformats.org/markup-compatibility/2006">
    <mc:Choice xmlns:p14="http://schemas.microsoft.com/office/powerpoint/2010/main" Requires="p14">
      <p:transition spd="slow" p14:dur="2000" advTm="50368"/>
    </mc:Choice>
    <mc:Fallback>
      <p:transition spd="slow" advTm="503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CF2C-5A40-9A26-5979-5BFE81E932F0}"/>
              </a:ext>
            </a:extLst>
          </p:cNvPr>
          <p:cNvSpPr>
            <a:spLocks noGrp="1"/>
          </p:cNvSpPr>
          <p:nvPr>
            <p:ph type="title"/>
          </p:nvPr>
        </p:nvSpPr>
        <p:spPr/>
        <p:txBody>
          <a:bodyPr>
            <a:normAutofit/>
          </a:bodyPr>
          <a:lstStyle/>
          <a:p>
            <a:r>
              <a:rPr lang="en-US" dirty="0"/>
              <a:t>3. </a:t>
            </a:r>
            <a:r>
              <a:rPr lang="en-CA" dirty="0"/>
              <a:t>Data</a:t>
            </a:r>
          </a:p>
        </p:txBody>
      </p:sp>
      <p:sp>
        <p:nvSpPr>
          <p:cNvPr id="3" name="Content Placeholder 2">
            <a:extLst>
              <a:ext uri="{FF2B5EF4-FFF2-40B4-BE49-F238E27FC236}">
                <a16:creationId xmlns:a16="http://schemas.microsoft.com/office/drawing/2014/main" id="{5AB61154-A74A-0C5F-B800-96D7763240EC}"/>
              </a:ext>
            </a:extLst>
          </p:cNvPr>
          <p:cNvSpPr>
            <a:spLocks noGrp="1"/>
          </p:cNvSpPr>
          <p:nvPr>
            <p:ph idx="1"/>
          </p:nvPr>
        </p:nvSpPr>
        <p:spPr/>
        <p:txBody>
          <a:bodyPr>
            <a:normAutofit/>
          </a:bodyPr>
          <a:lstStyle/>
          <a:p>
            <a:r>
              <a:rPr lang="en-US" dirty="0"/>
              <a:t>Each algorithm used has its own dataset as listed below: </a:t>
            </a:r>
          </a:p>
          <a:p>
            <a:r>
              <a:rPr lang="en-US" b="1" dirty="0"/>
              <a:t>Linear Regression</a:t>
            </a:r>
          </a:p>
          <a:p>
            <a:pPr marL="571500" lvl="1" indent="-342900">
              <a:buFont typeface="Arial" panose="020B0604020202020204" pitchFamily="34" charset="0"/>
              <a:buChar char="•"/>
            </a:pPr>
            <a:r>
              <a:rPr lang="en-US" dirty="0"/>
              <a:t>Topic: Housing Prices Prediction</a:t>
            </a:r>
          </a:p>
          <a:p>
            <a:r>
              <a:rPr lang="en-US" b="1" dirty="0"/>
              <a:t>Classification</a:t>
            </a:r>
          </a:p>
          <a:p>
            <a:pPr marL="571500" lvl="1" indent="-342900">
              <a:buFont typeface="Arial" panose="020B0604020202020204" pitchFamily="34" charset="0"/>
              <a:buChar char="•"/>
            </a:pPr>
            <a:r>
              <a:rPr lang="en-US" dirty="0"/>
              <a:t>Topic: Survivability Prediction</a:t>
            </a:r>
          </a:p>
          <a:p>
            <a:r>
              <a:rPr lang="en-US" b="1" dirty="0"/>
              <a:t>Clustering</a:t>
            </a:r>
          </a:p>
          <a:p>
            <a:pPr marL="571500" lvl="1" indent="-342900">
              <a:buFont typeface="Arial" panose="020B0604020202020204" pitchFamily="34" charset="0"/>
              <a:buChar char="•"/>
            </a:pPr>
            <a:r>
              <a:rPr lang="en-US" dirty="0"/>
              <a:t>Topic: Customer Mall Segmentation </a:t>
            </a:r>
          </a:p>
          <a:p>
            <a:r>
              <a:rPr lang="en-US" b="1" dirty="0"/>
              <a:t>Neural Networks</a:t>
            </a:r>
          </a:p>
          <a:p>
            <a:pPr marL="571500" lvl="1" indent="-342900">
              <a:buFont typeface="Arial" panose="020B0604020202020204" pitchFamily="34" charset="0"/>
              <a:buChar char="•"/>
            </a:pPr>
            <a:r>
              <a:rPr lang="en-US" dirty="0"/>
              <a:t>UCLA Admission</a:t>
            </a:r>
            <a:endParaRPr lang="en-CA" dirty="0"/>
          </a:p>
        </p:txBody>
      </p:sp>
      <p:pic>
        <p:nvPicPr>
          <p:cNvPr id="11" name="Audio 10">
            <a:extLst>
              <a:ext uri="{FF2B5EF4-FFF2-40B4-BE49-F238E27FC236}">
                <a16:creationId xmlns:a16="http://schemas.microsoft.com/office/drawing/2014/main" id="{8CA74F99-0941-0350-0BE3-8CC40E10D7B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839666837"/>
      </p:ext>
    </p:extLst>
  </p:cSld>
  <p:clrMapOvr>
    <a:masterClrMapping/>
  </p:clrMapOvr>
  <mc:AlternateContent xmlns:mc="http://schemas.openxmlformats.org/markup-compatibility/2006">
    <mc:Choice xmlns:p14="http://schemas.microsoft.com/office/powerpoint/2010/main" Requires="p14">
      <p:transition spd="slow" p14:dur="2000" advTm="29013"/>
    </mc:Choice>
    <mc:Fallback>
      <p:transition spd="slow" advTm="29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D19C-07B1-17B2-BBBC-57A02371E55F}"/>
              </a:ext>
            </a:extLst>
          </p:cNvPr>
          <p:cNvSpPr>
            <a:spLocks noGrp="1"/>
          </p:cNvSpPr>
          <p:nvPr>
            <p:ph type="title"/>
          </p:nvPr>
        </p:nvSpPr>
        <p:spPr/>
        <p:txBody>
          <a:bodyPr>
            <a:normAutofit/>
          </a:bodyPr>
          <a:lstStyle/>
          <a:p>
            <a:r>
              <a:rPr lang="en-US" dirty="0"/>
              <a:t>4. </a:t>
            </a:r>
            <a:r>
              <a:rPr lang="en-CA" dirty="0"/>
              <a:t>Results</a:t>
            </a:r>
          </a:p>
        </p:txBody>
      </p:sp>
      <p:sp>
        <p:nvSpPr>
          <p:cNvPr id="3" name="Content Placeholder 2">
            <a:extLst>
              <a:ext uri="{FF2B5EF4-FFF2-40B4-BE49-F238E27FC236}">
                <a16:creationId xmlns:a16="http://schemas.microsoft.com/office/drawing/2014/main" id="{73304616-9DFE-F326-01FF-56932251C19D}"/>
              </a:ext>
            </a:extLst>
          </p:cNvPr>
          <p:cNvSpPr>
            <a:spLocks noGrp="1"/>
          </p:cNvSpPr>
          <p:nvPr>
            <p:ph idx="1"/>
          </p:nvPr>
        </p:nvSpPr>
        <p:spPr>
          <a:xfrm>
            <a:off x="609600" y="2106204"/>
            <a:ext cx="6546980" cy="4036534"/>
          </a:xfrm>
        </p:spPr>
        <p:txBody>
          <a:bodyPr/>
          <a:lstStyle/>
          <a:p>
            <a:pPr marL="342900" indent="-342900">
              <a:buFont typeface="Arial" panose="020B0604020202020204" pitchFamily="34" charset="0"/>
              <a:buChar char="•"/>
            </a:pPr>
            <a:r>
              <a:rPr lang="en-CA" dirty="0"/>
              <a:t>Modularization: Code has been modularized into separate files.</a:t>
            </a:r>
          </a:p>
          <a:p>
            <a:pPr marL="342900" indent="-342900">
              <a:buFont typeface="Arial" panose="020B0604020202020204" pitchFamily="34" charset="0"/>
              <a:buChar char="•"/>
            </a:pPr>
            <a:r>
              <a:rPr lang="en-CA" dirty="0"/>
              <a:t>VS Code Structure: A project folder named “</a:t>
            </a:r>
            <a:r>
              <a:rPr lang="en-CA" dirty="0" err="1"/>
              <a:t>predictionalgorithms</a:t>
            </a:r>
            <a:r>
              <a:rPr lang="en-CA" dirty="0"/>
              <a:t>” has been created, containing the structure format:</a:t>
            </a:r>
          </a:p>
          <a:p>
            <a:pPr marL="571500" lvl="1" indent="-342900">
              <a:buFont typeface="Arial" panose="020B0604020202020204" pitchFamily="34" charset="0"/>
              <a:buChar char="•"/>
            </a:pPr>
            <a:r>
              <a:rPr lang="en-CA" dirty="0" err="1"/>
              <a:t>predictionalgorithms</a:t>
            </a:r>
            <a:r>
              <a:rPr lang="en-CA" dirty="0"/>
              <a:t> (project root folder)</a:t>
            </a:r>
          </a:p>
          <a:p>
            <a:pPr marL="800100" lvl="2" indent="-342900">
              <a:buFont typeface="Arial" panose="020B0604020202020204" pitchFamily="34" charset="0"/>
              <a:buChar char="•"/>
            </a:pPr>
            <a:r>
              <a:rPr lang="en-CA" dirty="0"/>
              <a:t>pages (contains other algorithms)</a:t>
            </a:r>
          </a:p>
          <a:p>
            <a:pPr marL="800100" lvl="2" indent="-342900">
              <a:buFont typeface="Arial" panose="020B0604020202020204" pitchFamily="34" charset="0"/>
              <a:buChar char="•"/>
            </a:pPr>
            <a:r>
              <a:rPr lang="en-CA" dirty="0" err="1"/>
              <a:t>linear_regression.py</a:t>
            </a:r>
            <a:r>
              <a:rPr lang="en-CA" dirty="0"/>
              <a:t> (main application file)</a:t>
            </a:r>
          </a:p>
          <a:p>
            <a:pPr marL="800100" lvl="2" indent="-342900">
              <a:buFont typeface="Arial" panose="020B0604020202020204" pitchFamily="34" charset="0"/>
              <a:buChar char="•"/>
            </a:pPr>
            <a:r>
              <a:rPr lang="en-CA" dirty="0"/>
              <a:t>pickle files (saved algorithms)</a:t>
            </a:r>
          </a:p>
          <a:p>
            <a:pPr marL="800100" lvl="2" indent="-342900">
              <a:buFont typeface="Arial" panose="020B0604020202020204" pitchFamily="34" charset="0"/>
              <a:buChar char="•"/>
            </a:pPr>
            <a:r>
              <a:rPr lang="en-CA" dirty="0" err="1"/>
              <a:t>readme.txt</a:t>
            </a:r>
            <a:r>
              <a:rPr lang="en-CA" dirty="0"/>
              <a:t> (information about the project)</a:t>
            </a:r>
          </a:p>
          <a:p>
            <a:pPr marL="800100" lvl="2" indent="-342900">
              <a:buFont typeface="Arial" panose="020B0604020202020204" pitchFamily="34" charset="0"/>
              <a:buChar char="•"/>
            </a:pPr>
            <a:r>
              <a:rPr lang="en-CA" dirty="0" err="1"/>
              <a:t>requirements.txt</a:t>
            </a:r>
            <a:r>
              <a:rPr lang="en-CA" dirty="0"/>
              <a:t> (required libraries to run the application)</a:t>
            </a:r>
          </a:p>
          <a:p>
            <a:pPr marL="342900" indent="-342900">
              <a:buFont typeface="Arial" panose="020B0604020202020204" pitchFamily="34" charset="0"/>
              <a:buChar char="•"/>
            </a:pPr>
            <a:endParaRPr lang="en-CA" dirty="0"/>
          </a:p>
        </p:txBody>
      </p:sp>
      <p:pic>
        <p:nvPicPr>
          <p:cNvPr id="5" name="Picture 4">
            <a:extLst>
              <a:ext uri="{FF2B5EF4-FFF2-40B4-BE49-F238E27FC236}">
                <a16:creationId xmlns:a16="http://schemas.microsoft.com/office/drawing/2014/main" id="{9CDC969A-3727-D3D1-7679-B3194202CA53}"/>
              </a:ext>
            </a:extLst>
          </p:cNvPr>
          <p:cNvPicPr>
            <a:picLocks noChangeAspect="1"/>
          </p:cNvPicPr>
          <p:nvPr/>
        </p:nvPicPr>
        <p:blipFill>
          <a:blip r:embed="rId4"/>
          <a:stretch>
            <a:fillRect/>
          </a:stretch>
        </p:blipFill>
        <p:spPr>
          <a:xfrm>
            <a:off x="7470581" y="2106204"/>
            <a:ext cx="4111819" cy="3916599"/>
          </a:xfrm>
          <a:prstGeom prst="rect">
            <a:avLst/>
          </a:prstGeom>
        </p:spPr>
      </p:pic>
      <p:pic>
        <p:nvPicPr>
          <p:cNvPr id="12" name="Audio 11">
            <a:extLst>
              <a:ext uri="{FF2B5EF4-FFF2-40B4-BE49-F238E27FC236}">
                <a16:creationId xmlns:a16="http://schemas.microsoft.com/office/drawing/2014/main" id="{FF37B07F-9FF1-0D25-1406-FFE58451FCC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104201233"/>
      </p:ext>
    </p:extLst>
  </p:cSld>
  <p:clrMapOvr>
    <a:masterClrMapping/>
  </p:clrMapOvr>
  <mc:AlternateContent xmlns:mc="http://schemas.openxmlformats.org/markup-compatibility/2006">
    <mc:Choice xmlns:p14="http://schemas.microsoft.com/office/powerpoint/2010/main" Requires="p14">
      <p:transition spd="slow" p14:dur="2000" advTm="91754"/>
    </mc:Choice>
    <mc:Fallback>
      <p:transition spd="slow" advTm="917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D19C-07B1-17B2-BBBC-57A02371E55F}"/>
              </a:ext>
            </a:extLst>
          </p:cNvPr>
          <p:cNvSpPr>
            <a:spLocks noGrp="1"/>
          </p:cNvSpPr>
          <p:nvPr>
            <p:ph type="title"/>
          </p:nvPr>
        </p:nvSpPr>
        <p:spPr/>
        <p:txBody>
          <a:bodyPr>
            <a:normAutofit/>
          </a:bodyPr>
          <a:lstStyle/>
          <a:p>
            <a:r>
              <a:rPr lang="en-US" dirty="0"/>
              <a:t>4. </a:t>
            </a:r>
            <a:r>
              <a:rPr lang="en-CA" dirty="0"/>
              <a:t>Results</a:t>
            </a:r>
          </a:p>
        </p:txBody>
      </p:sp>
      <p:sp>
        <p:nvSpPr>
          <p:cNvPr id="3" name="Content Placeholder 2">
            <a:extLst>
              <a:ext uri="{FF2B5EF4-FFF2-40B4-BE49-F238E27FC236}">
                <a16:creationId xmlns:a16="http://schemas.microsoft.com/office/drawing/2014/main" id="{73304616-9DFE-F326-01FF-56932251C19D}"/>
              </a:ext>
            </a:extLst>
          </p:cNvPr>
          <p:cNvSpPr>
            <a:spLocks noGrp="1"/>
          </p:cNvSpPr>
          <p:nvPr>
            <p:ph idx="1"/>
          </p:nvPr>
        </p:nvSpPr>
        <p:spPr>
          <a:xfrm>
            <a:off x="609600" y="2106204"/>
            <a:ext cx="4559559" cy="4036534"/>
          </a:xfrm>
        </p:spPr>
        <p:txBody>
          <a:bodyPr/>
          <a:lstStyle/>
          <a:p>
            <a:pPr marL="342900" indent="-342900">
              <a:buFont typeface="Arial" panose="020B0604020202020204" pitchFamily="34" charset="0"/>
              <a:buChar char="•"/>
            </a:pPr>
            <a:r>
              <a:rPr lang="en-CA" dirty="0"/>
              <a:t>Code Quality, Logging and Error Handling: All codes were aligned to a similar structure. Executable codes were nested under a try and catch function, incorporated logging to record errors.</a:t>
            </a:r>
          </a:p>
          <a:p>
            <a:endParaRPr lang="en-CA" dirty="0"/>
          </a:p>
        </p:txBody>
      </p:sp>
      <p:pic>
        <p:nvPicPr>
          <p:cNvPr id="6" name="Picture 5">
            <a:extLst>
              <a:ext uri="{FF2B5EF4-FFF2-40B4-BE49-F238E27FC236}">
                <a16:creationId xmlns:a16="http://schemas.microsoft.com/office/drawing/2014/main" id="{263994B7-8E44-5929-E447-39CC47AFAEB8}"/>
              </a:ext>
            </a:extLst>
          </p:cNvPr>
          <p:cNvPicPr>
            <a:picLocks noChangeAspect="1"/>
          </p:cNvPicPr>
          <p:nvPr/>
        </p:nvPicPr>
        <p:blipFill>
          <a:blip r:embed="rId4"/>
          <a:stretch>
            <a:fillRect/>
          </a:stretch>
        </p:blipFill>
        <p:spPr>
          <a:xfrm>
            <a:off x="5326125" y="1883346"/>
            <a:ext cx="6746131" cy="4878483"/>
          </a:xfrm>
          <a:prstGeom prst="rect">
            <a:avLst/>
          </a:prstGeom>
        </p:spPr>
      </p:pic>
      <p:pic>
        <p:nvPicPr>
          <p:cNvPr id="13" name="Audio 12">
            <a:extLst>
              <a:ext uri="{FF2B5EF4-FFF2-40B4-BE49-F238E27FC236}">
                <a16:creationId xmlns:a16="http://schemas.microsoft.com/office/drawing/2014/main" id="{F5A9A810-45AA-7A52-6D2F-F16C451458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134541751"/>
      </p:ext>
    </p:extLst>
  </p:cSld>
  <p:clrMapOvr>
    <a:masterClrMapping/>
  </p:clrMapOvr>
  <mc:AlternateContent xmlns:mc="http://schemas.openxmlformats.org/markup-compatibility/2006">
    <mc:Choice xmlns:p14="http://schemas.microsoft.com/office/powerpoint/2010/main" Requires="p14">
      <p:transition spd="slow" p14:dur="2000" advTm="41359"/>
    </mc:Choice>
    <mc:Fallback>
      <p:transition spd="slow" advTm="413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D19C-07B1-17B2-BBBC-57A02371E55F}"/>
              </a:ext>
            </a:extLst>
          </p:cNvPr>
          <p:cNvSpPr>
            <a:spLocks noGrp="1"/>
          </p:cNvSpPr>
          <p:nvPr>
            <p:ph type="title"/>
          </p:nvPr>
        </p:nvSpPr>
        <p:spPr/>
        <p:txBody>
          <a:bodyPr>
            <a:normAutofit/>
          </a:bodyPr>
          <a:lstStyle/>
          <a:p>
            <a:r>
              <a:rPr lang="en-US" dirty="0"/>
              <a:t>4. </a:t>
            </a:r>
            <a:r>
              <a:rPr lang="en-CA" dirty="0"/>
              <a:t>Results</a:t>
            </a:r>
          </a:p>
        </p:txBody>
      </p:sp>
      <p:sp>
        <p:nvSpPr>
          <p:cNvPr id="3" name="Content Placeholder 2">
            <a:extLst>
              <a:ext uri="{FF2B5EF4-FFF2-40B4-BE49-F238E27FC236}">
                <a16:creationId xmlns:a16="http://schemas.microsoft.com/office/drawing/2014/main" id="{73304616-9DFE-F326-01FF-56932251C19D}"/>
              </a:ext>
            </a:extLst>
          </p:cNvPr>
          <p:cNvSpPr>
            <a:spLocks noGrp="1"/>
          </p:cNvSpPr>
          <p:nvPr>
            <p:ph idx="1"/>
          </p:nvPr>
        </p:nvSpPr>
        <p:spPr>
          <a:xfrm>
            <a:off x="609599" y="2106204"/>
            <a:ext cx="10773747" cy="4036534"/>
          </a:xfrm>
        </p:spPr>
        <p:txBody>
          <a:bodyPr/>
          <a:lstStyle/>
          <a:p>
            <a:pPr marL="342900" indent="-342900">
              <a:buFont typeface="Arial" panose="020B0604020202020204" pitchFamily="34" charset="0"/>
              <a:buChar char="•"/>
            </a:pPr>
            <a:r>
              <a:rPr lang="en-CA" dirty="0"/>
              <a:t>GitHub and </a:t>
            </a:r>
            <a:r>
              <a:rPr lang="en-CA" dirty="0" err="1"/>
              <a:t>Streamlit</a:t>
            </a:r>
            <a:r>
              <a:rPr lang="en-CA" dirty="0"/>
              <a:t> Deployment</a:t>
            </a:r>
          </a:p>
          <a:p>
            <a:pPr marL="571500" lvl="1" indent="-342900">
              <a:buFont typeface="Arial" panose="020B0604020202020204" pitchFamily="34" charset="0"/>
              <a:buChar char="•"/>
            </a:pPr>
            <a:r>
              <a:rPr lang="en-CA" dirty="0"/>
              <a:t>Code has been efficiently hosted in GitHub and published for public access via </a:t>
            </a:r>
            <a:r>
              <a:rPr lang="en-CA" dirty="0" err="1"/>
              <a:t>streamlit.io</a:t>
            </a:r>
            <a:r>
              <a:rPr lang="en-CA" dirty="0"/>
              <a:t> which successfully applied deployment practices in the workplace.</a:t>
            </a:r>
          </a:p>
        </p:txBody>
      </p:sp>
      <p:pic>
        <p:nvPicPr>
          <p:cNvPr id="6" name="Picture 5">
            <a:extLst>
              <a:ext uri="{FF2B5EF4-FFF2-40B4-BE49-F238E27FC236}">
                <a16:creationId xmlns:a16="http://schemas.microsoft.com/office/drawing/2014/main" id="{9E8E3465-D43C-1E34-3A57-C6FAC804048D}"/>
              </a:ext>
            </a:extLst>
          </p:cNvPr>
          <p:cNvPicPr>
            <a:picLocks noChangeAspect="1"/>
          </p:cNvPicPr>
          <p:nvPr/>
        </p:nvPicPr>
        <p:blipFill>
          <a:blip r:embed="rId4"/>
          <a:stretch>
            <a:fillRect/>
          </a:stretch>
        </p:blipFill>
        <p:spPr>
          <a:xfrm>
            <a:off x="1681842" y="3304080"/>
            <a:ext cx="8828315" cy="3061515"/>
          </a:xfrm>
          <a:prstGeom prst="rect">
            <a:avLst/>
          </a:prstGeom>
        </p:spPr>
      </p:pic>
      <p:pic>
        <p:nvPicPr>
          <p:cNvPr id="12" name="Audio 11">
            <a:extLst>
              <a:ext uri="{FF2B5EF4-FFF2-40B4-BE49-F238E27FC236}">
                <a16:creationId xmlns:a16="http://schemas.microsoft.com/office/drawing/2014/main" id="{9F0BD6F3-1213-3F58-5B6B-AADFA90E96A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571225461"/>
      </p:ext>
    </p:extLst>
  </p:cSld>
  <p:clrMapOvr>
    <a:masterClrMapping/>
  </p:clrMapOvr>
  <mc:AlternateContent xmlns:mc="http://schemas.openxmlformats.org/markup-compatibility/2006">
    <mc:Choice xmlns:p14="http://schemas.microsoft.com/office/powerpoint/2010/main" Requires="p14">
      <p:transition spd="slow" p14:dur="2000" advTm="41781"/>
    </mc:Choice>
    <mc:Fallback>
      <p:transition spd="slow" advTm="417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D19C-07B1-17B2-BBBC-57A02371E55F}"/>
              </a:ext>
            </a:extLst>
          </p:cNvPr>
          <p:cNvSpPr>
            <a:spLocks noGrp="1"/>
          </p:cNvSpPr>
          <p:nvPr>
            <p:ph type="title"/>
          </p:nvPr>
        </p:nvSpPr>
        <p:spPr/>
        <p:txBody>
          <a:bodyPr>
            <a:normAutofit/>
          </a:bodyPr>
          <a:lstStyle/>
          <a:p>
            <a:r>
              <a:rPr lang="en-US" dirty="0"/>
              <a:t>5. </a:t>
            </a:r>
            <a:r>
              <a:rPr lang="en-CA" dirty="0"/>
              <a:t>Limitation</a:t>
            </a:r>
          </a:p>
        </p:txBody>
      </p:sp>
      <p:sp>
        <p:nvSpPr>
          <p:cNvPr id="3" name="Content Placeholder 2">
            <a:extLst>
              <a:ext uri="{FF2B5EF4-FFF2-40B4-BE49-F238E27FC236}">
                <a16:creationId xmlns:a16="http://schemas.microsoft.com/office/drawing/2014/main" id="{73304616-9DFE-F326-01FF-56932251C19D}"/>
              </a:ext>
            </a:extLst>
          </p:cNvPr>
          <p:cNvSpPr>
            <a:spLocks noGrp="1"/>
          </p:cNvSpPr>
          <p:nvPr>
            <p:ph idx="1"/>
          </p:nvPr>
        </p:nvSpPr>
        <p:spPr/>
        <p:txBody>
          <a:bodyPr/>
          <a:lstStyle/>
          <a:p>
            <a:pPr marL="342900" indent="-342900">
              <a:buFont typeface="Arial" panose="020B0604020202020204" pitchFamily="34" charset="0"/>
              <a:buChar char="•"/>
            </a:pPr>
            <a:r>
              <a:rPr lang="en-US" dirty="0" err="1"/>
              <a:t>Streamlit</a:t>
            </a:r>
            <a:r>
              <a:rPr lang="en-US" dirty="0"/>
              <a:t> technical constraints – Since </a:t>
            </a:r>
            <a:r>
              <a:rPr lang="en-US" dirty="0" err="1"/>
              <a:t>streamlit</a:t>
            </a:r>
            <a:r>
              <a:rPr lang="en-US" dirty="0"/>
              <a:t> is a rendered application, this can be inefficient in large scale deployments since it is less customizable than other platforms.</a:t>
            </a:r>
          </a:p>
          <a:p>
            <a:pPr marL="342900" indent="-342900">
              <a:buFont typeface="Arial" panose="020B0604020202020204" pitchFamily="34" charset="0"/>
              <a:buChar char="•"/>
            </a:pPr>
            <a:r>
              <a:rPr lang="en-US" dirty="0"/>
              <a:t>Pickle versioning – Models saved as pickle files may encounter version issues if deployed on another server.</a:t>
            </a:r>
          </a:p>
          <a:p>
            <a:pPr marL="342900" indent="-342900">
              <a:buFont typeface="Arial" panose="020B0604020202020204" pitchFamily="34" charset="0"/>
              <a:buChar char="•"/>
            </a:pPr>
            <a:r>
              <a:rPr lang="en-US" dirty="0"/>
              <a:t>Static training – Since the models are trained in a certain kind of dataset then saved as is, it is not possible to apply the model directly to additional attributes which can limit the potential for improving predictions and solving additional business problems.</a:t>
            </a:r>
            <a:endParaRPr lang="en-CA" dirty="0"/>
          </a:p>
        </p:txBody>
      </p:sp>
      <p:pic>
        <p:nvPicPr>
          <p:cNvPr id="9" name="Audio 8">
            <a:extLst>
              <a:ext uri="{FF2B5EF4-FFF2-40B4-BE49-F238E27FC236}">
                <a16:creationId xmlns:a16="http://schemas.microsoft.com/office/drawing/2014/main" id="{ADE10B0C-C118-EA36-0F46-3DAE2C90EEA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400599088"/>
      </p:ext>
    </p:extLst>
  </p:cSld>
  <p:clrMapOvr>
    <a:masterClrMapping/>
  </p:clrMapOvr>
  <mc:AlternateContent xmlns:mc="http://schemas.openxmlformats.org/markup-compatibility/2006">
    <mc:Choice xmlns:p14="http://schemas.microsoft.com/office/powerpoint/2010/main" Requires="p14">
      <p:transition spd="slow" p14:dur="2000" advTm="107616"/>
    </mc:Choice>
    <mc:Fallback>
      <p:transition spd="slow" advTm="1076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10D8A-73FA-4D9D-F90E-6F47AAFBE227}"/>
              </a:ext>
            </a:extLst>
          </p:cNvPr>
          <p:cNvSpPr>
            <a:spLocks noGrp="1"/>
          </p:cNvSpPr>
          <p:nvPr>
            <p:ph type="title"/>
          </p:nvPr>
        </p:nvSpPr>
        <p:spPr/>
        <p:txBody>
          <a:bodyPr/>
          <a:lstStyle/>
          <a:p>
            <a:r>
              <a:rPr lang="en-CA" dirty="0"/>
              <a:t>5. Conclusion</a:t>
            </a:r>
          </a:p>
        </p:txBody>
      </p:sp>
      <p:sp>
        <p:nvSpPr>
          <p:cNvPr id="5" name="Content Placeholder 4">
            <a:extLst>
              <a:ext uri="{FF2B5EF4-FFF2-40B4-BE49-F238E27FC236}">
                <a16:creationId xmlns:a16="http://schemas.microsoft.com/office/drawing/2014/main" id="{09AB0737-AED1-C10A-0CE6-EF89ACEABED3}"/>
              </a:ext>
            </a:extLst>
          </p:cNvPr>
          <p:cNvSpPr>
            <a:spLocks noGrp="1"/>
          </p:cNvSpPr>
          <p:nvPr>
            <p:ph idx="1"/>
          </p:nvPr>
        </p:nvSpPr>
        <p:spPr/>
        <p:txBody>
          <a:bodyPr/>
          <a:lstStyle/>
          <a:p>
            <a:r>
              <a:rPr lang="en-CA" dirty="0"/>
              <a:t>This project has detailed the transformation of machine learning theory into a functional, deployed application. </a:t>
            </a:r>
          </a:p>
          <a:p>
            <a:r>
              <a:rPr lang="en-CA" dirty="0"/>
              <a:t>By adopting modular coding standards and proper deployment procedures, we have established a foundation for professional data science development and deployment.</a:t>
            </a:r>
          </a:p>
        </p:txBody>
      </p:sp>
      <p:pic>
        <p:nvPicPr>
          <p:cNvPr id="9" name="Audio 8">
            <a:extLst>
              <a:ext uri="{FF2B5EF4-FFF2-40B4-BE49-F238E27FC236}">
                <a16:creationId xmlns:a16="http://schemas.microsoft.com/office/drawing/2014/main" id="{880678FE-439D-DF17-1E86-3246DEB2BD7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725480456"/>
      </p:ext>
    </p:extLst>
  </p:cSld>
  <p:clrMapOvr>
    <a:masterClrMapping/>
  </p:clrMapOvr>
  <mc:AlternateContent xmlns:mc="http://schemas.openxmlformats.org/markup-compatibility/2006">
    <mc:Choice xmlns:p14="http://schemas.microsoft.com/office/powerpoint/2010/main" Requires="p14">
      <p:transition spd="slow" p14:dur="2000" advTm="41932"/>
    </mc:Choice>
    <mc:Fallback>
      <p:transition spd="slow" advTm="419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docProps/app.xml><?xml version="1.0" encoding="utf-8"?>
<Properties xmlns="http://schemas.openxmlformats.org/officeDocument/2006/extended-properties" xmlns:vt="http://schemas.openxmlformats.org/officeDocument/2006/docPropsVTypes">
  <TotalTime>793</TotalTime>
  <Words>522</Words>
  <Application>Microsoft Macintosh PowerPoint</Application>
  <PresentationFormat>Widescreen</PresentationFormat>
  <Paragraphs>50</Paragraphs>
  <Slides>9</Slides>
  <Notes>0</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Avenir Next LT Pro</vt:lpstr>
      <vt:lpstr>Posterama</vt:lpstr>
      <vt:lpstr>SplashVTI</vt:lpstr>
      <vt:lpstr>Machine Learning Level 2: Algorithm Optimization and Deployment </vt:lpstr>
      <vt:lpstr>1. Introduction</vt:lpstr>
      <vt:lpstr>2. Methodology</vt:lpstr>
      <vt:lpstr>3. Data</vt:lpstr>
      <vt:lpstr>4. Results</vt:lpstr>
      <vt:lpstr>4. Results</vt:lpstr>
      <vt:lpstr>4. Results</vt:lpstr>
      <vt:lpstr>5. Limitation</vt:lpstr>
      <vt:lpstr>5.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the project</dc:title>
  <dc:creator>Siju Philip</dc:creator>
  <cp:lastModifiedBy>Microsoft Office User</cp:lastModifiedBy>
  <cp:revision>31</cp:revision>
  <dcterms:created xsi:type="dcterms:W3CDTF">2023-10-31T05:50:05Z</dcterms:created>
  <dcterms:modified xsi:type="dcterms:W3CDTF">2026-04-13T02:31:29Z</dcterms:modified>
</cp:coreProperties>
</file>