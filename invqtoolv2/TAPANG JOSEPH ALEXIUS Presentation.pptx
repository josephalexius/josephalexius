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9" r:id="rId3"/>
    <p:sldId id="260" r:id="rId4"/>
    <p:sldId id="262" r:id="rId5"/>
    <p:sldId id="265" r:id="rId6"/>
    <p:sldId id="266" r:id="rId7"/>
    <p:sldId id="268" r:id="rId8"/>
    <p:sldId id="267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0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2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1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1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3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9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7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0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8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0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5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3/21/26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4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BB887A-DB02-4431-8FDF-F517505C9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E1192-14C2-0098-16F2-B1EE24DF9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361" y="1584327"/>
            <a:ext cx="7377811" cy="2519714"/>
          </a:xfrm>
        </p:spPr>
        <p:txBody>
          <a:bodyPr>
            <a:noAutofit/>
          </a:bodyPr>
          <a:lstStyle/>
          <a:p>
            <a:r>
              <a:rPr lang="en-US" sz="3600" dirty="0"/>
              <a:t>Risk Profiling Predictive Analysis</a:t>
            </a:r>
            <a:br>
              <a:rPr lang="en-US" sz="3600" dirty="0"/>
            </a:br>
            <a:endParaRPr lang="en-CA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10709-4E50-5BB2-80B6-041CEB4B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8718" y="4372719"/>
            <a:ext cx="6294846" cy="2519713"/>
          </a:xfrm>
        </p:spPr>
        <p:txBody>
          <a:bodyPr>
            <a:normAutofit/>
          </a:bodyPr>
          <a:lstStyle/>
          <a:p>
            <a:r>
              <a:rPr lang="en-US" dirty="0"/>
              <a:t>Joseph Alexius </a:t>
            </a:r>
            <a:r>
              <a:rPr lang="en-US" dirty="0" err="1"/>
              <a:t>Tapang</a:t>
            </a:r>
            <a:endParaRPr lang="en-US" dirty="0"/>
          </a:p>
        </p:txBody>
      </p:sp>
      <p:pic>
        <p:nvPicPr>
          <p:cNvPr id="18" name="Picture 17" descr="Colored pencils inside a pencil holder which is on top of a wood table">
            <a:extLst>
              <a:ext uri="{FF2B5EF4-FFF2-40B4-BE49-F238E27FC236}">
                <a16:creationId xmlns:a16="http://schemas.microsoft.com/office/drawing/2014/main" id="{61AD307F-19C2-CEB6-B5A6-E96F4141C2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97" r="19" b="-1"/>
          <a:stretch/>
        </p:blipFill>
        <p:spPr>
          <a:xfrm>
            <a:off x="20" y="10"/>
            <a:ext cx="461511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095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1F84-8F22-661E-368E-9E146FE9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2EF47-0E52-95F7-A30B-607530B6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project is an extension of the automated investment questionnaire that aims to provide assistive predictive analysis as additional feature that the financial advisor can use.</a:t>
            </a:r>
          </a:p>
          <a:p>
            <a:r>
              <a:rPr lang="en-CA" b="1" dirty="0"/>
              <a:t>Problem and Benefit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Having access to predictions based from statistical datasets will provide insights and informed data-driven decisions. This project would address the problem through the following goals: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CA" dirty="0"/>
              <a:t>Provide a facility to perform investment risk assessment analysis based from a dataset.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CA" dirty="0"/>
              <a:t>Predict the risk assessment based from client information and existing dataset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086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F88D-D639-3619-09DF-8DDF3C71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BDF2-A49F-A4CC-8E11-302C51D5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Dataset used: USA Survey of Consumer Finances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Used: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Dev Tool : VS Code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Programming Language: Python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Libraries: NumPy | Pandas | Matplotlib | Seaborn | </a:t>
            </a:r>
            <a:r>
              <a:rPr lang="en-US" dirty="0" err="1"/>
              <a:t>Sklearn</a:t>
            </a:r>
            <a:r>
              <a:rPr lang="en-US" dirty="0"/>
              <a:t> | </a:t>
            </a:r>
            <a:r>
              <a:rPr lang="en-US" dirty="0" err="1"/>
              <a:t>Streamlit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Framework: CRISP-DM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Technique: Predictive Analytics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085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22,795 rows and 357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Duplicates: Respondent ID (YY1) duplicated </a:t>
            </a:r>
          </a:p>
          <a:p>
            <a:r>
              <a:rPr lang="en-US" dirty="0"/>
              <a:t>five times using multiple imputation techniques </a:t>
            </a:r>
          </a:p>
          <a:p>
            <a:r>
              <a:rPr lang="en-US" dirty="0"/>
              <a:t>from the data source.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Missing values: No missing values observed.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Correlations: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Positive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INCOME, NETWORTH, ASSET, EQUITY (strong)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DEBT to INCOME, NETWORTH and EQUITY (moderate)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C48C4-8F75-2BF8-BDC7-911E89C9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597" y="1883347"/>
            <a:ext cx="5535385" cy="47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6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OCCAT1 (Occupational Category) to AGECL(Age Class) and EDCL(Education Class) (moderate)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Negative Correlation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EDCL (Education Classification) to NOFINRISK (No Financial Risk) (moderate)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KNOWL (Financial Knowledge) to NOFINRISK (No Financial Risk) (moderate)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Skewness: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Net worth (right skewed)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Income (right skewed)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Debt (right skewed)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57650-722A-BD0F-8565-CECA3F7B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10" y="4647527"/>
            <a:ext cx="2840346" cy="2107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83FA4-129A-8FC9-D3FD-25E3320EE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656" y="4124471"/>
            <a:ext cx="2779532" cy="2107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B65B68-970C-CF0F-70B8-DAB53FE76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188" y="3604032"/>
            <a:ext cx="2779532" cy="20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Selection and Engineering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Selected Key Attributes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YY1 | AGECL | EDCL | MARRIED | KIDS | KNOWL | OCCAT1 | FAMSTRUCT | HHSEX | NOFINRISK | YESFINRISK |  ASSET | INCOME | NETWORTH | EQUITY | DEBT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845F3-3A2E-0777-A6FF-356FFB41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5" y="3942183"/>
            <a:ext cx="11568104" cy="154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9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Derived Attributes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Knowledge Group (categorical)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Metrics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Equity to Asset Ratio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Debt to Asset Ratio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Debt to Income Ratio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Equity to Asset Score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Debt to Asset Ratio Score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Debt to Income Ratio Score (numerical)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Risk Profile (categorical)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9637C-F6C7-A30B-C872-F40418E0A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0" y="2106204"/>
            <a:ext cx="60833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06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8291"/>
            <a:ext cx="10972800" cy="403653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Interpretation of findings: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Ratios converted as weights (scores) for risk profiling.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CA" dirty="0"/>
              <a:t>Risk profiling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0564EE-4E85-7BDF-EE1E-79F31D011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10136"/>
              </p:ext>
            </p:extLst>
          </p:nvPr>
        </p:nvGraphicFramePr>
        <p:xfrm>
          <a:off x="912324" y="2538260"/>
          <a:ext cx="99951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790">
                  <a:extLst>
                    <a:ext uri="{9D8B030D-6E8A-4147-A177-3AD203B41FA5}">
                      <a16:colId xmlns:a16="http://schemas.microsoft.com/office/drawing/2014/main" val="1573985147"/>
                    </a:ext>
                  </a:extLst>
                </a:gridCol>
                <a:gridCol w="2498790">
                  <a:extLst>
                    <a:ext uri="{9D8B030D-6E8A-4147-A177-3AD203B41FA5}">
                      <a16:colId xmlns:a16="http://schemas.microsoft.com/office/drawing/2014/main" val="1832071376"/>
                    </a:ext>
                  </a:extLst>
                </a:gridCol>
                <a:gridCol w="2498790">
                  <a:extLst>
                    <a:ext uri="{9D8B030D-6E8A-4147-A177-3AD203B41FA5}">
                      <a16:colId xmlns:a16="http://schemas.microsoft.com/office/drawing/2014/main" val="4063048355"/>
                    </a:ext>
                  </a:extLst>
                </a:gridCol>
                <a:gridCol w="2498790">
                  <a:extLst>
                    <a:ext uri="{9D8B030D-6E8A-4147-A177-3AD203B41FA5}">
                      <a16:colId xmlns:a16="http://schemas.microsoft.com/office/drawing/2014/main" val="402212309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Criteria and Score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84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288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Equity to Asset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0.30 and &lt; 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0.70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1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Debt to Asset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 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0.40 and &gt; 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475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Debt to Income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 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 0.20 and &lt; 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084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BBBD56-B43A-ED33-2E20-7BFA256C9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363884"/>
              </p:ext>
            </p:extLst>
          </p:nvPr>
        </p:nvGraphicFramePr>
        <p:xfrm>
          <a:off x="912323" y="4816856"/>
          <a:ext cx="999516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720">
                  <a:extLst>
                    <a:ext uri="{9D8B030D-6E8A-4147-A177-3AD203B41FA5}">
                      <a16:colId xmlns:a16="http://schemas.microsoft.com/office/drawing/2014/main" val="2189872173"/>
                    </a:ext>
                  </a:extLst>
                </a:gridCol>
                <a:gridCol w="3331720">
                  <a:extLst>
                    <a:ext uri="{9D8B030D-6E8A-4147-A177-3AD203B41FA5}">
                      <a16:colId xmlns:a16="http://schemas.microsoft.com/office/drawing/2014/main" val="458592607"/>
                    </a:ext>
                  </a:extLst>
                </a:gridCol>
                <a:gridCol w="3331720">
                  <a:extLst>
                    <a:ext uri="{9D8B030D-6E8A-4147-A177-3AD203B41FA5}">
                      <a16:colId xmlns:a16="http://schemas.microsoft.com/office/drawing/2014/main" val="166548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Profile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82022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Equity to Asset Ratio + Debt to Asset Ratio + Debt to Income Ratio = Total Score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Conservative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1801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4606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 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Aggressive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623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D19C-07B1-17B2-BBBC-57A02371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CA" dirty="0"/>
              <a:t>Challenges &amp; Solutions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F57749-A454-A427-1442-D43C62472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715406"/>
              </p:ext>
            </p:extLst>
          </p:nvPr>
        </p:nvGraphicFramePr>
        <p:xfrm>
          <a:off x="609599" y="2121670"/>
          <a:ext cx="1071776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8882">
                  <a:extLst>
                    <a:ext uri="{9D8B030D-6E8A-4147-A177-3AD203B41FA5}">
                      <a16:colId xmlns:a16="http://schemas.microsoft.com/office/drawing/2014/main" val="1701742167"/>
                    </a:ext>
                  </a:extLst>
                </a:gridCol>
                <a:gridCol w="5358882">
                  <a:extLst>
                    <a:ext uri="{9D8B030D-6E8A-4147-A177-3AD203B41FA5}">
                      <a16:colId xmlns:a16="http://schemas.microsoft.com/office/drawing/2014/main" val="2215408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4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direct related data source available since financial data is confidential.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Referred to anonymized Survey of Consumer Finances that contains relevant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7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direct attributes available in dataset to help in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Derive attributes to form as metrics needed by the model for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035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 contains numerical values that is not aligned with classification target.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Conform values into bins as categorical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71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20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0D8A-73FA-4D9D-F90E-6F47AAFB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Demo</a:t>
            </a:r>
          </a:p>
        </p:txBody>
      </p:sp>
    </p:spTree>
    <p:extLst>
      <p:ext uri="{BB962C8B-B14F-4D97-AF65-F5344CB8AC3E}">
        <p14:creationId xmlns:p14="http://schemas.microsoft.com/office/powerpoint/2010/main" val="372548045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568</Words>
  <Application>Microsoft Macintosh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Posterama</vt:lpstr>
      <vt:lpstr>SplashVTI</vt:lpstr>
      <vt:lpstr>Risk Profiling Predictive Analysis </vt:lpstr>
      <vt:lpstr>1. Introduction</vt:lpstr>
      <vt:lpstr>2. Methodology</vt:lpstr>
      <vt:lpstr>3. Key Findings &amp; Analysis</vt:lpstr>
      <vt:lpstr>3. Key Findings &amp; Analysis</vt:lpstr>
      <vt:lpstr>3. Key Findings &amp; Analysis</vt:lpstr>
      <vt:lpstr>3. Key Findings &amp; Analysis</vt:lpstr>
      <vt:lpstr>3. Key Findings &amp; Analysis</vt:lpstr>
      <vt:lpstr>4. Challenges &amp; Solutions</vt:lpstr>
      <vt:lpstr>5.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the project</dc:title>
  <dc:creator>Siju Philip</dc:creator>
  <cp:lastModifiedBy>Microsoft Office User</cp:lastModifiedBy>
  <cp:revision>30</cp:revision>
  <dcterms:created xsi:type="dcterms:W3CDTF">2023-10-31T05:50:05Z</dcterms:created>
  <dcterms:modified xsi:type="dcterms:W3CDTF">2026-03-24T02:21:04Z</dcterms:modified>
</cp:coreProperties>
</file>